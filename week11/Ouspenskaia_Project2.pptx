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2" r:id="rId4"/>
    <p:sldId id="263" r:id="rId5"/>
    <p:sldId id="264" r:id="rId6"/>
    <p:sldId id="258" r:id="rId7"/>
    <p:sldId id="259" r:id="rId8"/>
    <p:sldId id="261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03"/>
    <p:restoredTop sz="94658"/>
  </p:normalViewPr>
  <p:slideViewPr>
    <p:cSldViewPr snapToGrid="0">
      <p:cViewPr varScale="1">
        <p:scale>
          <a:sx n="103" d="100"/>
          <a:sy n="103" d="100"/>
        </p:scale>
        <p:origin x="19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1F3CA5D-12B9-0B42-9CCF-A572034C318A}" type="datetimeFigureOut">
              <a:rPr lang="en-US" smtClean="0"/>
              <a:t>4/29/26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2734E83-B6B8-1948-9AFD-BA0D4F908E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9963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physical characteristics of three penguin species from the Palmer Archipelago in Antarctica.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Group of islands:  Torgersen, Biscoe, Dream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2734E83-B6B8-1948-9AFD-BA0D4F908EA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10014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13011-616D-36AD-9F57-E34E0350CE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0D8E4ED-D50B-DF2A-EEDD-BC45A67A5E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BF83D4-A378-E2FD-62F7-0964147616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329D42-2BA8-3A4F-9787-EC9676DB1FCA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039F42-28CB-467E-4B1E-1CBBEB0FA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817C-1FA0-BE5F-5551-77D077345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C9C16-8CF5-FA48-AE02-D0B94836DE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65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5341C3-62F0-4EEC-2690-4DEB2AB11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19FCB1-44EC-3880-7E98-4C750382B7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A6728D-8995-E897-AF2F-181C81509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329D42-2BA8-3A4F-9787-EC9676DB1FCA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B35AAD-AA46-4BBB-4D28-3326AD6AC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0CA73D-F776-AD07-C2FF-4184BD57F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C9C16-8CF5-FA48-AE02-D0B94836DE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5785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11C8D-9260-500A-2AAA-DC0B47B56C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CDD97D-2EAB-4C5B-B4C1-EAE7B0B091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327594-EA38-C3B7-1F13-8BFE7499AF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329D42-2BA8-3A4F-9787-EC9676DB1FCA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90A19B-F21E-6B2D-2859-9EB7B15575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06BC59-7157-A9AB-4878-73BEFCE1F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C9C16-8CF5-FA48-AE02-D0B94836DE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274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9E50CC-4B3D-F568-8A26-A7E038E80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D4273D-569D-8570-F341-84B1BBB6CC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152429-517F-1161-A8B1-80464F50D8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DF228E-A622-3539-7B8C-B0EAA63EC4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329D42-2BA8-3A4F-9787-EC9676DB1FCA}" type="datetimeFigureOut">
              <a:rPr lang="en-US" smtClean="0"/>
              <a:t>4/29/26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84F38A-87CC-CFC6-66FA-F549E31EF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4059BA-9263-40D7-E409-10B9C4FC1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C9C16-8CF5-FA48-AE02-D0B94836DE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8229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57D7A3-2FFB-D248-5CA5-539A6AB141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03A82C-C6B8-B8F1-C87C-C97CDBAF0E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DBFB20-61B4-C8B7-564F-555ECEAD60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829D9D-A5CB-8A34-047D-C775FC576B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DF8D37D-9BB7-E9A5-1B03-D4192EF2E2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93BED3E-190A-93F1-50A7-5EEC98998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329D42-2BA8-3A4F-9787-EC9676DB1FCA}" type="datetimeFigureOut">
              <a:rPr lang="en-US" smtClean="0"/>
              <a:t>4/29/26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A7E5A4E-65A8-5F20-7046-530F283F8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E9B4DB-C588-B32E-1F57-1D87A6314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C9C16-8CF5-FA48-AE02-D0B94836DE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90914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080C75-EB1B-D382-8FDE-F070813D0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78A9D2-13A3-38F7-0E4D-190079D4DD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329D42-2BA8-3A4F-9787-EC9676DB1FCA}" type="datetimeFigureOut">
              <a:rPr lang="en-US" smtClean="0"/>
              <a:t>4/29/26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53C6A5-49A3-A36D-CB71-01EC65342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37BFD6-1D41-2A8F-5DDA-EFA21F705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C9C16-8CF5-FA48-AE02-D0B94836DE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010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558EB80-40EB-06AC-0517-AECAD0C1E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329D42-2BA8-3A4F-9787-EC9676DB1FCA}" type="datetimeFigureOut">
              <a:rPr lang="en-US" smtClean="0"/>
              <a:t>4/29/26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0580737-A148-73D9-29D0-DAE9FE2FF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2E73C7-661B-01DE-9E47-C95DACD00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C9C16-8CF5-FA48-AE02-D0B94836DE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32554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CD4C5-E2BE-6F6D-CCA5-5B69CA371F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2E5054-0F09-EDCC-C15E-A853C8A110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3C24E7-C8E9-A496-2A5F-DF763BF8BD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2D1CF8-BE59-5329-5EDE-6BFF39716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329D42-2BA8-3A4F-9787-EC9676DB1FCA}" type="datetimeFigureOut">
              <a:rPr lang="en-US" smtClean="0"/>
              <a:t>4/29/26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9911DB-354E-D9AC-CDAC-75B8BE0DF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14DBE6-6C82-010C-9D46-5EE61506A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C9C16-8CF5-FA48-AE02-D0B94836DE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7875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B688A-1093-D2A0-5776-579A68A4D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B1B627-54E1-EBD8-E947-C44E7AC0A33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8D1DE1-0472-2916-9A17-D02750395E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59B7A4-0C9F-1044-329E-E08623A66E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329D42-2BA8-3A4F-9787-EC9676DB1FCA}" type="datetimeFigureOut">
              <a:rPr lang="en-US" smtClean="0"/>
              <a:t>4/29/26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9B906D-E2F6-9BD0-FCC1-6FDC264DD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DFBEB0E-F324-8D19-3100-39594FEF0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C9C16-8CF5-FA48-AE02-D0B94836DE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717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D04D2-3C99-5A32-AA93-8AA6649B6C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92AFA8-1BCE-B948-85A6-C660E3F7CE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F0DF7D-0713-76DB-57D2-2D732463DC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329D42-2BA8-3A4F-9787-EC9676DB1FCA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DD325-DEFC-01CE-8FB5-DAAD8B4215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38739F-F6CD-646A-637B-B163AAC6B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C9C16-8CF5-FA48-AE02-D0B94836DE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24654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F56BA95-DBC0-4787-FB26-E7396900E7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91F038-345D-33E5-3608-3808F7F831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390EA7-51AD-ADFE-3364-B938EC118D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329D42-2BA8-3A4F-9787-EC9676DB1FCA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9960E8-6CFC-7E22-2080-B982942F8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6DB40A-29CE-8D56-A019-097C69027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5C9C16-8CF5-FA48-AE02-D0B94836DE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1846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39D104A-9231-E1F8-633F-1930052137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B84017-8225-2213-842E-79C42AEBAD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0B9B84-EEEF-4DFC-5BAA-9316FE0B38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329D42-2BA8-3A4F-9787-EC9676DB1FCA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D878D0-1B5B-A604-9B16-5B9E8E2A5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CFDB6C-4D72-3E42-664A-D8CA39ABE1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5C9C16-8CF5-FA48-AE02-D0B94836DE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2767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4A41961-C5CB-5E20-BED2-44B1E5CA5E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874" y="1122363"/>
            <a:ext cx="7772400" cy="463105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E97E866-0EFF-A749-6F2C-627081BD8BF0}"/>
              </a:ext>
            </a:extLst>
          </p:cNvPr>
          <p:cNvSpPr txBox="1"/>
          <p:nvPr/>
        </p:nvSpPr>
        <p:spPr>
          <a:xfrm>
            <a:off x="7764162" y="5773301"/>
            <a:ext cx="43053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u="none" strike="noStrike" dirty="0">
                <a:solidFill>
                  <a:srgbClr val="393536"/>
                </a:solidFill>
                <a:effectLst/>
                <a:latin typeface="Jost"/>
              </a:rPr>
              <a:t>Artwork by </a:t>
            </a:r>
            <a:r>
              <a:rPr lang="en-US" b="0" i="0" dirty="0">
                <a:solidFill>
                  <a:srgbClr val="393536"/>
                </a:solidFill>
                <a:effectLst/>
                <a:latin typeface="Jost"/>
              </a:rPr>
              <a:t>@</a:t>
            </a:r>
            <a:r>
              <a:rPr lang="en-US" b="0" i="0" dirty="0" err="1">
                <a:solidFill>
                  <a:srgbClr val="393536"/>
                </a:solidFill>
                <a:effectLst/>
                <a:latin typeface="Jost"/>
              </a:rPr>
              <a:t>allison_horst</a:t>
            </a:r>
            <a:endParaRPr lang="en-US" b="0" i="0" dirty="0">
              <a:solidFill>
                <a:srgbClr val="393536"/>
              </a:solidFill>
              <a:effectLst/>
              <a:latin typeface="Jost"/>
            </a:endParaRPr>
          </a:p>
          <a:p>
            <a:r>
              <a:rPr lang="en-US" dirty="0"/>
              <a:t>https://</a:t>
            </a:r>
            <a:r>
              <a:rPr lang="en-US" dirty="0" err="1"/>
              <a:t>allisonhorst.com</a:t>
            </a:r>
            <a:r>
              <a:rPr lang="en-US" dirty="0"/>
              <a:t>/</a:t>
            </a:r>
            <a:r>
              <a:rPr lang="en-US" dirty="0" err="1"/>
              <a:t>allison</a:t>
            </a:r>
            <a:r>
              <a:rPr lang="en-US" dirty="0"/>
              <a:t>-horst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2DF61E-FCEC-5BA5-3736-918B0F4CC98B}"/>
              </a:ext>
            </a:extLst>
          </p:cNvPr>
          <p:cNvSpPr txBox="1"/>
          <p:nvPr/>
        </p:nvSpPr>
        <p:spPr>
          <a:xfrm>
            <a:off x="4303528" y="212651"/>
            <a:ext cx="4223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       Palmer Penguins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B93901-6823-D8EF-198F-B1678057912E}"/>
              </a:ext>
            </a:extLst>
          </p:cNvPr>
          <p:cNvSpPr txBox="1"/>
          <p:nvPr/>
        </p:nvSpPr>
        <p:spPr>
          <a:xfrm>
            <a:off x="963827" y="5753418"/>
            <a:ext cx="53257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Alissa </a:t>
            </a:r>
            <a:r>
              <a:rPr lang="en-US" dirty="0" err="1"/>
              <a:t>Ouspenskaia</a:t>
            </a:r>
            <a:endParaRPr lang="en-US" dirty="0"/>
          </a:p>
          <a:p>
            <a:r>
              <a:rPr lang="en-US" dirty="0"/>
              <a:t>DATA 201</a:t>
            </a:r>
          </a:p>
          <a:p>
            <a:r>
              <a:rPr lang="en-US" dirty="0"/>
              <a:t>Montgomery College Spring 2026</a:t>
            </a:r>
          </a:p>
        </p:txBody>
      </p:sp>
    </p:spTree>
    <p:extLst>
      <p:ext uri="{BB962C8B-B14F-4D97-AF65-F5344CB8AC3E}">
        <p14:creationId xmlns:p14="http://schemas.microsoft.com/office/powerpoint/2010/main" val="3119826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A68FF53C-0B45-BA86-CFFE-34D19E24E7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16553" y="538120"/>
            <a:ext cx="9837247" cy="435133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005A9FE-682F-5C67-5078-308B8E8E8501}"/>
              </a:ext>
            </a:extLst>
          </p:cNvPr>
          <p:cNvSpPr txBox="1"/>
          <p:nvPr/>
        </p:nvSpPr>
        <p:spPr>
          <a:xfrm>
            <a:off x="2548869" y="5326788"/>
            <a:ext cx="609777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u="none" strike="noStrike" dirty="0">
                <a:solidFill>
                  <a:srgbClr val="393536"/>
                </a:solidFill>
                <a:effectLst/>
                <a:latin typeface="Jost"/>
              </a:rPr>
              <a:t>Artwork by </a:t>
            </a:r>
            <a:r>
              <a:rPr lang="en-US" b="0" i="0" dirty="0">
                <a:solidFill>
                  <a:srgbClr val="393536"/>
                </a:solidFill>
                <a:effectLst/>
                <a:latin typeface="Jost"/>
              </a:rPr>
              <a:t>@</a:t>
            </a:r>
            <a:r>
              <a:rPr lang="en-US" b="0" i="0" dirty="0" err="1">
                <a:solidFill>
                  <a:srgbClr val="393536"/>
                </a:solidFill>
                <a:effectLst/>
                <a:latin typeface="Jost"/>
              </a:rPr>
              <a:t>allison_horst</a:t>
            </a:r>
            <a:endParaRPr lang="en-US" b="0" i="0" dirty="0">
              <a:solidFill>
                <a:srgbClr val="393536"/>
              </a:solidFill>
              <a:effectLst/>
              <a:latin typeface="Jost"/>
            </a:endParaRPr>
          </a:p>
          <a:p>
            <a:r>
              <a:rPr lang="en-US" dirty="0"/>
              <a:t>https://</a:t>
            </a:r>
            <a:r>
              <a:rPr lang="en-US" dirty="0" err="1"/>
              <a:t>allisonhorst.com</a:t>
            </a:r>
            <a:r>
              <a:rPr lang="en-US" dirty="0"/>
              <a:t>/</a:t>
            </a:r>
            <a:r>
              <a:rPr lang="en-US" dirty="0" err="1"/>
              <a:t>allison</a:t>
            </a:r>
            <a:r>
              <a:rPr lang="en-US" dirty="0"/>
              <a:t>-horst</a:t>
            </a:r>
          </a:p>
        </p:txBody>
      </p:sp>
    </p:spTree>
    <p:extLst>
      <p:ext uri="{BB962C8B-B14F-4D97-AF65-F5344CB8AC3E}">
        <p14:creationId xmlns:p14="http://schemas.microsoft.com/office/powerpoint/2010/main" val="12786191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D0FDE74-2EEC-725C-C841-092FEE5C88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27930" y="580768"/>
            <a:ext cx="10536139" cy="5128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10042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94C5045-1733-EC22-9C51-E9FBD7106D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1258" y="267307"/>
            <a:ext cx="8342871" cy="6177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6924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4EC5CAF-7389-A63E-AE93-1223EAA551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783652" cy="587879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149A9C7-CF23-8F58-4AC2-FD39F784FE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9000" y="1963351"/>
            <a:ext cx="4953000" cy="238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13341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BEADD-2CA4-EEB9-54D0-CD2920017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dirty="0"/>
              <a:t>Pairwise plots </a:t>
            </a:r>
            <a:br>
              <a:rPr lang="en-US" sz="2000" dirty="0"/>
            </a:br>
            <a:r>
              <a:rPr lang="en-US" sz="2000" dirty="0"/>
              <a:t>grouped by sex</a:t>
            </a:r>
            <a:br>
              <a:rPr lang="en-US" dirty="0"/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B366897-3064-5A16-3141-CCF8E017C9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19632" y="365125"/>
            <a:ext cx="7092779" cy="6343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9931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A1699-1467-B694-13A4-B0051758F3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dirty="0"/>
              <a:t>Pairwise plots </a:t>
            </a:r>
            <a:br>
              <a:rPr lang="en-US" sz="2000" dirty="0"/>
            </a:br>
            <a:r>
              <a:rPr lang="en-US" sz="2000" dirty="0"/>
              <a:t>grouped by species</a:t>
            </a:r>
            <a:br>
              <a:rPr lang="en-US" dirty="0"/>
            </a:br>
            <a:endParaRPr lang="en-US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8BB0857-F0DA-7292-CD49-EDDB197F40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71020" y="143158"/>
            <a:ext cx="7285088" cy="6481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38449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5CC845-7034-43CC-8A9C-914150B30D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664090"/>
                <a:ext cx="10678297" cy="492116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For predicting body mass, the best model of those attempted is </a:t>
                </a:r>
              </a:p>
              <a:p>
                <a:pPr marL="0" indent="0">
                  <a:buNone/>
                </a:pPr>
                <a:endParaRPr lang="en-US" sz="260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2600" i="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600" i="0" smtClean="0">
                          <a:latin typeface="Cambria Math" panose="02040503050406030204" pitchFamily="18" charset="0"/>
                        </a:rPr>
                        <m:t>body</m:t>
                      </m:r>
                      <m:r>
                        <m:rPr>
                          <m:nor/>
                        </m:rPr>
                        <a:rPr lang="en-US" sz="2600" i="0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m:rPr>
                          <m:nor/>
                        </m:rPr>
                        <a:rPr lang="en-US" sz="2600" i="0" smtClean="0">
                          <a:latin typeface="Cambria Math" panose="02040503050406030204" pitchFamily="18" charset="0"/>
                        </a:rPr>
                        <m:t>mass</m:t>
                      </m:r>
                      <m:r>
                        <a:rPr lang="en-US" sz="2600" i="1">
                          <a:latin typeface="Cambria Math" panose="02040503050406030204" pitchFamily="18" charset="0"/>
                        </a:rPr>
                        <m:t>=2169.27+32.54</m:t>
                      </m:r>
                      <m:d>
                        <m:d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sz="2600" i="0">
                              <a:latin typeface="Cambria Math" panose="02040503050406030204" pitchFamily="18" charset="0"/>
                            </a:rPr>
                            <m:t>bill</m:t>
                          </m:r>
                          <m:r>
                            <m:rPr>
                              <m:nor/>
                            </m:rPr>
                            <a:rPr lang="en-US" sz="2600" i="0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m:rPr>
                              <m:nor/>
                            </m:rPr>
                            <a:rPr lang="en-US" sz="2600" i="0">
                              <a:latin typeface="Cambria Math" panose="02040503050406030204" pitchFamily="18" charset="0"/>
                            </a:rPr>
                            <m:t>length</m:t>
                          </m:r>
                        </m:e>
                      </m:d>
                      <m:r>
                        <a:rPr lang="en-US" sz="2600" i="1">
                          <a:latin typeface="Cambria Math" panose="02040503050406030204" pitchFamily="18" charset="0"/>
                        </a:rPr>
                        <m:t>−298.77</m:t>
                      </m:r>
                      <m:d>
                        <m:d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sz="2600" i="0">
                              <a:latin typeface="Cambria Math" panose="02040503050406030204" pitchFamily="18" charset="0"/>
                            </a:rPr>
                            <m:t>chinstrap</m:t>
                          </m:r>
                        </m:e>
                      </m:d>
                    </m:oMath>
                  </m:oMathPara>
                </a14:m>
                <a:endParaRPr lang="en-US" sz="2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600" i="1">
                          <a:latin typeface="Cambria Math" panose="02040503050406030204" pitchFamily="18" charset="0"/>
                        </a:rPr>
                        <m:t>+1094.87</m:t>
                      </m:r>
                      <m:d>
                        <m:d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sz="2600" i="0">
                              <a:latin typeface="Cambria Math" panose="02040503050406030204" pitchFamily="18" charset="0"/>
                            </a:rPr>
                            <m:t>gentoo</m:t>
                          </m:r>
                        </m:e>
                      </m:d>
                      <m:r>
                        <a:rPr lang="en-US" sz="2600" i="1">
                          <a:latin typeface="Cambria Math" panose="02040503050406030204" pitchFamily="18" charset="0"/>
                        </a:rPr>
                        <m:t>+547.37</m:t>
                      </m:r>
                      <m:d>
                        <m:d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sz="2600" i="0">
                              <a:latin typeface="Cambria Math" panose="02040503050406030204" pitchFamily="18" charset="0"/>
                            </a:rPr>
                            <m:t>male</m:t>
                          </m:r>
                        </m:e>
                      </m:d>
                    </m:oMath>
                  </m:oMathPara>
                </a14:m>
                <a:endParaRPr lang="en-US" sz="2600" dirty="0"/>
              </a:p>
              <a:p>
                <a:pPr marL="0" indent="0">
                  <a:buNone/>
                </a:pPr>
                <a:endParaRPr lang="en-US" sz="2600" dirty="0"/>
              </a:p>
              <a:p>
                <a:pPr marL="0" indent="0">
                  <a:buNone/>
                </a:pPr>
                <a:r>
                  <a:rPr lang="en-US" sz="2400" dirty="0"/>
                  <a:t>Where 1 indicates True for categorical variables chinstrap, gentoo, and male, and 0 indicates False. 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sz="2400" dirty="0"/>
                  <a:t>This model has the lowest p-values across all variables, the highest R-squared score, and the lowest RMSE. 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5CC845-7034-43CC-8A9C-914150B30D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664090"/>
                <a:ext cx="10678297" cy="4921164"/>
              </a:xfrm>
              <a:blipFill>
                <a:blip r:embed="rId2"/>
                <a:stretch>
                  <a:fillRect l="-1069" t="-20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1">
            <a:extLst>
              <a:ext uri="{FF2B5EF4-FFF2-40B4-BE49-F238E27FC236}">
                <a16:creationId xmlns:a16="http://schemas.microsoft.com/office/drawing/2014/main" id="{2666D537-1829-8891-583A-E0B0133E78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E3E3E3"/>
                </a:solidFill>
                <a:effectLst/>
                <a:latin typeface="STIXGeneral-Regular"/>
              </a:rPr>
              <a:t>body_mass=2169.27+32.54(bill_length)−298.77(chinstrap)+1094.87(gentoo)+547.37(male)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EDD2DC1E-BF1A-8B2C-21F3-1F4BC9202B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E3E3E3"/>
                </a:solidFill>
                <a:effectLst/>
                <a:latin typeface="STIXGeneral-Regular"/>
              </a:rPr>
              <a:t>body_mass=2169.27+32.54(bill_length)−298.77(chinstrap)+1094.87(gentoo)+547.37(male)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E46FF9B6-5BD7-F21C-4173-5A887F55C2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" y="3048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E3E3E3"/>
                </a:solidFill>
                <a:effectLst/>
                <a:latin typeface="STIXGeneral-Italic"/>
              </a:rPr>
              <a:t>𝑅</a:t>
            </a: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E3E3E3"/>
                </a:solidFill>
                <a:effectLst/>
                <a:latin typeface="STIXGeneral-Regular"/>
              </a:rPr>
              <a:t>2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CB607C89-5C10-3EE0-06F6-EEF34440AF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572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E3E3E3"/>
                </a:solidFill>
                <a:effectLst/>
                <a:latin typeface="STIXGeneral-Italic"/>
              </a:rPr>
              <a:t>𝑅</a:t>
            </a: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E3E3E3"/>
                </a:solidFill>
                <a:effectLst/>
                <a:latin typeface="STIXGeneral-Regular"/>
              </a:rPr>
              <a:t>2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C170B78C-21D9-97FF-E622-C68B6E871B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" y="60960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E3E3E3"/>
                </a:solidFill>
                <a:effectLst/>
                <a:latin typeface="Google Sans Text"/>
              </a:rPr>
              <a:t> </a:t>
            </a:r>
            <a:r>
              <a:rPr kumimoji="0" lang="en-US" altLang="en-US" sz="1400" b="0" i="0" u="none" strike="noStrike" cap="none" normalizeH="0" baseline="0">
                <a:ln>
                  <a:noFill/>
                </a:ln>
                <a:solidFill>
                  <a:srgbClr val="E3E3E3"/>
                </a:solidFill>
                <a:effectLst/>
                <a:latin typeface="STIXGeneral-Italic"/>
              </a:rPr>
              <a:t>𝑅</a:t>
            </a:r>
            <a:r>
              <a:rPr kumimoji="0" lang="en-US" altLang="en-US" sz="900" b="0" i="0" u="none" strike="noStrike" cap="none" normalizeH="0" baseline="0">
                <a:ln>
                  <a:noFill/>
                </a:ln>
                <a:solidFill>
                  <a:srgbClr val="E3E3E3"/>
                </a:solidFill>
                <a:effectLst/>
                <a:latin typeface="STIXGeneral-Regular"/>
              </a:rPr>
              <a:t>2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E3E3E3"/>
                </a:solidFill>
                <a:effectLst/>
                <a:latin typeface="Google Sans Text"/>
              </a:rPr>
              <a:t> 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30182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EDE05-771B-1696-6DDF-5BF0EAB42F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69405"/>
          </a:xfrm>
        </p:spPr>
        <p:txBody>
          <a:bodyPr/>
          <a:lstStyle/>
          <a:p>
            <a:r>
              <a:rPr lang="en-US" dirty="0"/>
              <a:t>References: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707A21-41DB-4C76-E93E-567E7AF65A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4530"/>
            <a:ext cx="10515600" cy="4842433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endParaRPr lang="en-US" dirty="0"/>
          </a:p>
          <a:p>
            <a:r>
              <a:rPr lang="en-US" sz="2900" dirty="0"/>
              <a:t>Horst AM, Hill AP, Gorman KB (2020). </a:t>
            </a:r>
            <a:r>
              <a:rPr lang="en-US" sz="2900" dirty="0" err="1"/>
              <a:t>palmerpenguins</a:t>
            </a:r>
            <a:r>
              <a:rPr lang="en-US" sz="2900" dirty="0"/>
              <a:t>: Palmer</a:t>
            </a:r>
          </a:p>
          <a:p>
            <a:endParaRPr lang="en-US" sz="2900" dirty="0"/>
          </a:p>
          <a:p>
            <a:r>
              <a:rPr lang="en-US" sz="2900" dirty="0"/>
              <a:t>Archipelago (Antarctica) penguin data. R package version 0.1.0.</a:t>
            </a:r>
          </a:p>
          <a:p>
            <a:endParaRPr lang="en-US" sz="2900" dirty="0"/>
          </a:p>
          <a:p>
            <a:r>
              <a:rPr lang="en-US" sz="2900" dirty="0"/>
              <a:t>https://</a:t>
            </a:r>
            <a:r>
              <a:rPr lang="en-US" sz="2900" dirty="0" err="1"/>
              <a:t>allisonhorst</a:t>
            </a:r>
            <a:r>
              <a:rPr lang="en-US" dirty="0" err="1"/>
              <a:t>.github.io</a:t>
            </a:r>
            <a:r>
              <a:rPr lang="en-US" dirty="0"/>
              <a:t>/</a:t>
            </a:r>
            <a:r>
              <a:rPr lang="en-US" dirty="0" err="1"/>
              <a:t>palmerpenguins</a:t>
            </a:r>
            <a:r>
              <a:rPr lang="en-US" dirty="0"/>
              <a:t>/. </a:t>
            </a:r>
            <a:r>
              <a:rPr lang="en-US" dirty="0" err="1"/>
              <a:t>doi</a:t>
            </a:r>
            <a:r>
              <a:rPr lang="en-US" dirty="0"/>
              <a:t>: 10.5281/zenodo.3960218.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allisonhorst.github.io</a:t>
            </a:r>
            <a:r>
              <a:rPr lang="en-US" dirty="0"/>
              <a:t>/</a:t>
            </a:r>
            <a:r>
              <a:rPr lang="en-US" dirty="0" err="1"/>
              <a:t>palmerpenguins</a:t>
            </a:r>
            <a:r>
              <a:rPr lang="en-US" dirty="0"/>
              <a:t>/reference/</a:t>
            </a:r>
            <a:r>
              <a:rPr lang="en-US" dirty="0" err="1"/>
              <a:t>penguins_raw.html</a:t>
            </a:r>
            <a:br>
              <a:rPr lang="en-US" dirty="0"/>
            </a:br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journals.plos.org</a:t>
            </a:r>
            <a:r>
              <a:rPr lang="en-US" dirty="0"/>
              <a:t>/</a:t>
            </a:r>
            <a:r>
              <a:rPr lang="en-US" dirty="0" err="1"/>
              <a:t>plosone</a:t>
            </a:r>
            <a:r>
              <a:rPr lang="en-US" dirty="0"/>
              <a:t>/</a:t>
            </a:r>
            <a:r>
              <a:rPr lang="en-US" dirty="0" err="1"/>
              <a:t>article?id</a:t>
            </a:r>
            <a:r>
              <a:rPr lang="en-US" dirty="0"/>
              <a:t>=10.1371/journal.pone.0090081</a:t>
            </a:r>
            <a:br>
              <a:rPr lang="en-US" dirty="0"/>
            </a:br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allisonhorst.github.io</a:t>
            </a:r>
            <a:r>
              <a:rPr lang="en-US" dirty="0"/>
              <a:t>/</a:t>
            </a:r>
            <a:r>
              <a:rPr lang="en-US" dirty="0" err="1"/>
              <a:t>palmerpenguins</a:t>
            </a:r>
            <a:r>
              <a:rPr lang="en-US" dirty="0"/>
              <a:t>/</a:t>
            </a:r>
            <a:br>
              <a:rPr lang="en-US" dirty="0"/>
            </a:br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www.uaf.edu</a:t>
            </a:r>
            <a:r>
              <a:rPr lang="en-US" dirty="0"/>
              <a:t>/</a:t>
            </a:r>
            <a:r>
              <a:rPr lang="en-US" dirty="0" err="1"/>
              <a:t>cfos</a:t>
            </a:r>
            <a:r>
              <a:rPr lang="en-US" dirty="0"/>
              <a:t>/people/faculty/detail/</a:t>
            </a:r>
            <a:r>
              <a:rPr lang="en-US" dirty="0" err="1"/>
              <a:t>kristen-gorman.php</a:t>
            </a:r>
            <a:br>
              <a:rPr lang="en-US" dirty="0"/>
            </a:br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deepwiki.com</a:t>
            </a:r>
            <a:r>
              <a:rPr lang="en-US" dirty="0"/>
              <a:t>/</a:t>
            </a:r>
            <a:r>
              <a:rPr lang="en-US" dirty="0" err="1"/>
              <a:t>mwaskom</a:t>
            </a:r>
            <a:r>
              <a:rPr lang="en-US" dirty="0"/>
              <a:t>/seaborn-data/5.3-palmer-penguins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20371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1611</TotalTime>
  <Words>322</Words>
  <Application>Microsoft Macintosh PowerPoint</Application>
  <PresentationFormat>Widescreen</PresentationFormat>
  <Paragraphs>39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8" baseType="lpstr">
      <vt:lpstr>Aptos</vt:lpstr>
      <vt:lpstr>Aptos Display</vt:lpstr>
      <vt:lpstr>Arial</vt:lpstr>
      <vt:lpstr>Cambria Math</vt:lpstr>
      <vt:lpstr>Google Sans Text</vt:lpstr>
      <vt:lpstr>Jost</vt:lpstr>
      <vt:lpstr>STIXGeneral-Italic</vt:lpstr>
      <vt:lpstr>STIXGeneral-Regular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Pairwise plots  grouped by sex </vt:lpstr>
      <vt:lpstr>Pairwise plots  grouped by species </vt:lpstr>
      <vt:lpstr>PowerPoint Presentation</vt:lpstr>
      <vt:lpstr>References: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Ouspenskaia, Alissa I</dc:creator>
  <cp:lastModifiedBy>Ouspenskaia, Alissa I</cp:lastModifiedBy>
  <cp:revision>11</cp:revision>
  <dcterms:created xsi:type="dcterms:W3CDTF">2026-04-29T21:55:23Z</dcterms:created>
  <dcterms:modified xsi:type="dcterms:W3CDTF">2026-05-01T00:46:50Z</dcterms:modified>
</cp:coreProperties>
</file>